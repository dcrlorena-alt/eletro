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5" r:id="rId21"/>
  </p:sldIdLst>
  <p:sldSz cx="14630400" cy="8229600"/>
  <p:notesSz cx="8229600" cy="14630400"/>
  <p:embeddedFontLst>
    <p:embeddedFont>
      <p:font typeface="Overpass" panose="020B0604020202020204" charset="0"/>
      <p:regular r:id="rId23"/>
    </p:embeddedFont>
    <p:embeddedFont>
      <p:font typeface="Overpass Light" panose="020B0604020202020204" charset="0"/>
      <p:regular r:id="rId2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Fontes" userId="50bce77f0bd00842" providerId="LiveId" clId="{3E145AAF-A39A-4737-8374-2ABCA11E15CC}"/>
    <pc:docChg chg="addSld modSld">
      <pc:chgData name="Fabio Fontes" userId="50bce77f0bd00842" providerId="LiveId" clId="{3E145AAF-A39A-4737-8374-2ABCA11E15CC}" dt="2025-04-20T22:26:14.112" v="12" actId="207"/>
      <pc:docMkLst>
        <pc:docMk/>
      </pc:docMkLst>
      <pc:sldChg chg="modSp add mod">
        <pc:chgData name="Fabio Fontes" userId="50bce77f0bd00842" providerId="LiveId" clId="{3E145AAF-A39A-4737-8374-2ABCA11E15CC}" dt="2025-04-20T22:25:00.399" v="1" actId="207"/>
        <pc:sldMkLst>
          <pc:docMk/>
          <pc:sldMk cId="0" sldId="266"/>
        </pc:sldMkLst>
        <pc:spChg chg="mod">
          <ac:chgData name="Fabio Fontes" userId="50bce77f0bd00842" providerId="LiveId" clId="{3E145AAF-A39A-4737-8374-2ABCA11E15CC}" dt="2025-04-20T22:25:00.399" v="1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00.399" v="1" actId="207"/>
          <ac:spMkLst>
            <pc:docMk/>
            <pc:sldMk cId="0" sldId="266"/>
            <ac:spMk id="4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00.399" v="1" actId="207"/>
          <ac:spMkLst>
            <pc:docMk/>
            <pc:sldMk cId="0" sldId="266"/>
            <ac:spMk id="5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00.399" v="1" actId="207"/>
          <ac:spMkLst>
            <pc:docMk/>
            <pc:sldMk cId="0" sldId="266"/>
            <ac:spMk id="8" creationId="{00000000-0000-0000-0000-000000000000}"/>
          </ac:spMkLst>
        </pc:spChg>
      </pc:sldChg>
      <pc:sldChg chg="modSp add mod">
        <pc:chgData name="Fabio Fontes" userId="50bce77f0bd00842" providerId="LiveId" clId="{3E145AAF-A39A-4737-8374-2ABCA11E15CC}" dt="2025-04-20T22:25:06.400" v="2" actId="207"/>
        <pc:sldMkLst>
          <pc:docMk/>
          <pc:sldMk cId="0" sldId="267"/>
        </pc:sldMkLst>
        <pc:spChg chg="mod">
          <ac:chgData name="Fabio Fontes" userId="50bce77f0bd00842" providerId="LiveId" clId="{3E145AAF-A39A-4737-8374-2ABCA11E15CC}" dt="2025-04-20T22:25:06.400" v="2" actId="207"/>
          <ac:spMkLst>
            <pc:docMk/>
            <pc:sldMk cId="0" sldId="267"/>
            <ac:spMk id="3" creationId="{00000000-0000-0000-0000-000000000000}"/>
          </ac:spMkLst>
        </pc:spChg>
      </pc:sldChg>
      <pc:sldChg chg="modSp add mod">
        <pc:chgData name="Fabio Fontes" userId="50bce77f0bd00842" providerId="LiveId" clId="{3E145AAF-A39A-4737-8374-2ABCA11E15CC}" dt="2025-04-20T22:25:13.371" v="3" actId="207"/>
        <pc:sldMkLst>
          <pc:docMk/>
          <pc:sldMk cId="0" sldId="268"/>
        </pc:sldMkLst>
        <pc:spChg chg="mod">
          <ac:chgData name="Fabio Fontes" userId="50bce77f0bd00842" providerId="LiveId" clId="{3E145AAF-A39A-4737-8374-2ABCA11E15CC}" dt="2025-04-20T22:25:13.371" v="3" actId="207"/>
          <ac:spMkLst>
            <pc:docMk/>
            <pc:sldMk cId="0" sldId="268"/>
            <ac:spMk id="3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3.371" v="3" actId="207"/>
          <ac:spMkLst>
            <pc:docMk/>
            <pc:sldMk cId="0" sldId="268"/>
            <ac:spMk id="5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3.371" v="3" actId="207"/>
          <ac:spMkLst>
            <pc:docMk/>
            <pc:sldMk cId="0" sldId="268"/>
            <ac:spMk id="6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3.371" v="3" actId="207"/>
          <ac:spMkLst>
            <pc:docMk/>
            <pc:sldMk cId="0" sldId="268"/>
            <ac:spMk id="8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3.371" v="3" actId="207"/>
          <ac:spMkLst>
            <pc:docMk/>
            <pc:sldMk cId="0" sldId="268"/>
            <ac:spMk id="9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3.371" v="3" actId="207"/>
          <ac:spMkLst>
            <pc:docMk/>
            <pc:sldMk cId="0" sldId="268"/>
            <ac:spMk id="11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3.371" v="3" actId="207"/>
          <ac:spMkLst>
            <pc:docMk/>
            <pc:sldMk cId="0" sldId="268"/>
            <ac:spMk id="12" creationId="{00000000-0000-0000-0000-000000000000}"/>
          </ac:spMkLst>
        </pc:spChg>
      </pc:sldChg>
      <pc:sldChg chg="modSp add mod">
        <pc:chgData name="Fabio Fontes" userId="50bce77f0bd00842" providerId="LiveId" clId="{3E145AAF-A39A-4737-8374-2ABCA11E15CC}" dt="2025-04-20T22:25:18.919" v="4" actId="207"/>
        <pc:sldMkLst>
          <pc:docMk/>
          <pc:sldMk cId="0" sldId="269"/>
        </pc:sldMkLst>
        <pc:spChg chg="mod">
          <ac:chgData name="Fabio Fontes" userId="50bce77f0bd00842" providerId="LiveId" clId="{3E145AAF-A39A-4737-8374-2ABCA11E15CC}" dt="2025-04-20T22:25:18.919" v="4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8.919" v="4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8.919" v="4" actId="207"/>
          <ac:spMkLst>
            <pc:docMk/>
            <pc:sldMk cId="0" sldId="269"/>
            <ac:spMk id="4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8.919" v="4" actId="207"/>
          <ac:spMkLst>
            <pc:docMk/>
            <pc:sldMk cId="0" sldId="269"/>
            <ac:spMk id="5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8.919" v="4" actId="207"/>
          <ac:spMkLst>
            <pc:docMk/>
            <pc:sldMk cId="0" sldId="269"/>
            <ac:spMk id="6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8.919" v="4" actId="207"/>
          <ac:spMkLst>
            <pc:docMk/>
            <pc:sldMk cId="0" sldId="269"/>
            <ac:spMk id="7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18.919" v="4" actId="207"/>
          <ac:spMkLst>
            <pc:docMk/>
            <pc:sldMk cId="0" sldId="269"/>
            <ac:spMk id="8" creationId="{00000000-0000-0000-0000-000000000000}"/>
          </ac:spMkLst>
        </pc:spChg>
      </pc:sldChg>
      <pc:sldChg chg="modSp add mod">
        <pc:chgData name="Fabio Fontes" userId="50bce77f0bd00842" providerId="LiveId" clId="{3E145AAF-A39A-4737-8374-2ABCA11E15CC}" dt="2025-04-20T22:25:24.171" v="5" actId="207"/>
        <pc:sldMkLst>
          <pc:docMk/>
          <pc:sldMk cId="0" sldId="270"/>
        </pc:sldMkLst>
        <pc:spChg chg="mod">
          <ac:chgData name="Fabio Fontes" userId="50bce77f0bd00842" providerId="LiveId" clId="{3E145AAF-A39A-4737-8374-2ABCA11E15CC}" dt="2025-04-20T22:25:24.171" v="5" actId="207"/>
          <ac:spMkLst>
            <pc:docMk/>
            <pc:sldMk cId="0" sldId="270"/>
            <ac:spMk id="3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24.171" v="5" actId="207"/>
          <ac:spMkLst>
            <pc:docMk/>
            <pc:sldMk cId="0" sldId="270"/>
            <ac:spMk id="5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24.171" v="5" actId="207"/>
          <ac:spMkLst>
            <pc:docMk/>
            <pc:sldMk cId="0" sldId="270"/>
            <ac:spMk id="6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24.171" v="5" actId="207"/>
          <ac:spMkLst>
            <pc:docMk/>
            <pc:sldMk cId="0" sldId="270"/>
            <ac:spMk id="8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24.171" v="5" actId="207"/>
          <ac:spMkLst>
            <pc:docMk/>
            <pc:sldMk cId="0" sldId="270"/>
            <ac:spMk id="9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24.171" v="5" actId="207"/>
          <ac:spMkLst>
            <pc:docMk/>
            <pc:sldMk cId="0" sldId="270"/>
            <ac:spMk id="11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24.171" v="5" actId="207"/>
          <ac:spMkLst>
            <pc:docMk/>
            <pc:sldMk cId="0" sldId="270"/>
            <ac:spMk id="12" creationId="{00000000-0000-0000-0000-000000000000}"/>
          </ac:spMkLst>
        </pc:spChg>
      </pc:sldChg>
      <pc:sldChg chg="modSp add mod">
        <pc:chgData name="Fabio Fontes" userId="50bce77f0bd00842" providerId="LiveId" clId="{3E145AAF-A39A-4737-8374-2ABCA11E15CC}" dt="2025-04-20T22:25:30.750" v="7" actId="207"/>
        <pc:sldMkLst>
          <pc:docMk/>
          <pc:sldMk cId="0" sldId="271"/>
        </pc:sldMkLst>
        <pc:spChg chg="mod">
          <ac:chgData name="Fabio Fontes" userId="50bce77f0bd00842" providerId="LiveId" clId="{3E145AAF-A39A-4737-8374-2ABCA11E15CC}" dt="2025-04-20T22:25:30.750" v="7" actId="207"/>
          <ac:spMkLst>
            <pc:docMk/>
            <pc:sldMk cId="0" sldId="271"/>
            <ac:spMk id="3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0.750" v="7" actId="207"/>
          <ac:spMkLst>
            <pc:docMk/>
            <pc:sldMk cId="0" sldId="271"/>
            <ac:spMk id="5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0.750" v="7" actId="207"/>
          <ac:spMkLst>
            <pc:docMk/>
            <pc:sldMk cId="0" sldId="271"/>
            <ac:spMk id="6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0.750" v="7" actId="207"/>
          <ac:spMkLst>
            <pc:docMk/>
            <pc:sldMk cId="0" sldId="271"/>
            <ac:spMk id="7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0.750" v="7" actId="207"/>
          <ac:spMkLst>
            <pc:docMk/>
            <pc:sldMk cId="0" sldId="271"/>
            <ac:spMk id="9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0.750" v="7" actId="207"/>
          <ac:spMkLst>
            <pc:docMk/>
            <pc:sldMk cId="0" sldId="271"/>
            <ac:spMk id="10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0.750" v="7" actId="20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0.750" v="7" actId="207"/>
          <ac:spMkLst>
            <pc:docMk/>
            <pc:sldMk cId="0" sldId="271"/>
            <ac:spMk id="13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0.750" v="7" actId="207"/>
          <ac:spMkLst>
            <pc:docMk/>
            <pc:sldMk cId="0" sldId="271"/>
            <ac:spMk id="14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0.750" v="7" actId="207"/>
          <ac:spMkLst>
            <pc:docMk/>
            <pc:sldMk cId="0" sldId="271"/>
            <ac:spMk id="15" creationId="{00000000-0000-0000-0000-000000000000}"/>
          </ac:spMkLst>
        </pc:spChg>
      </pc:sldChg>
      <pc:sldChg chg="modSp add mod">
        <pc:chgData name="Fabio Fontes" userId="50bce77f0bd00842" providerId="LiveId" clId="{3E145AAF-A39A-4737-8374-2ABCA11E15CC}" dt="2025-04-20T22:25:36.407" v="8" actId="207"/>
        <pc:sldMkLst>
          <pc:docMk/>
          <pc:sldMk cId="0" sldId="272"/>
        </pc:sldMkLst>
        <pc:spChg chg="mod">
          <ac:chgData name="Fabio Fontes" userId="50bce77f0bd00842" providerId="LiveId" clId="{3E145AAF-A39A-4737-8374-2ABCA11E15CC}" dt="2025-04-20T22:25:36.407" v="8" actId="207"/>
          <ac:spMkLst>
            <pc:docMk/>
            <pc:sldMk cId="0" sldId="272"/>
            <ac:spMk id="2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6.407" v="8" actId="207"/>
          <ac:spMkLst>
            <pc:docMk/>
            <pc:sldMk cId="0" sldId="272"/>
            <ac:spMk id="3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6.407" v="8" actId="207"/>
          <ac:spMkLst>
            <pc:docMk/>
            <pc:sldMk cId="0" sldId="272"/>
            <ac:spMk id="4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6.407" v="8" actId="207"/>
          <ac:spMkLst>
            <pc:docMk/>
            <pc:sldMk cId="0" sldId="272"/>
            <ac:spMk id="5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6.407" v="8" actId="207"/>
          <ac:spMkLst>
            <pc:docMk/>
            <pc:sldMk cId="0" sldId="272"/>
            <ac:spMk id="6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6.407" v="8" actId="207"/>
          <ac:spMkLst>
            <pc:docMk/>
            <pc:sldMk cId="0" sldId="272"/>
            <ac:spMk id="7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5:36.407" v="8" actId="207"/>
          <ac:spMkLst>
            <pc:docMk/>
            <pc:sldMk cId="0" sldId="272"/>
            <ac:spMk id="8" creationId="{00000000-0000-0000-0000-000000000000}"/>
          </ac:spMkLst>
        </pc:spChg>
      </pc:sldChg>
      <pc:sldChg chg="modSp add mod">
        <pc:chgData name="Fabio Fontes" userId="50bce77f0bd00842" providerId="LiveId" clId="{3E145AAF-A39A-4737-8374-2ABCA11E15CC}" dt="2025-04-20T22:25:54.724" v="11" actId="14100"/>
        <pc:sldMkLst>
          <pc:docMk/>
          <pc:sldMk cId="0" sldId="273"/>
        </pc:sldMkLst>
        <pc:spChg chg="mod">
          <ac:chgData name="Fabio Fontes" userId="50bce77f0bd00842" providerId="LiveId" clId="{3E145AAF-A39A-4737-8374-2ABCA11E15CC}" dt="2025-04-20T22:25:54.724" v="11" actId="14100"/>
          <ac:spMkLst>
            <pc:docMk/>
            <pc:sldMk cId="0" sldId="273"/>
            <ac:spMk id="3" creationId="{00000000-0000-0000-0000-000000000000}"/>
          </ac:spMkLst>
        </pc:spChg>
      </pc:sldChg>
      <pc:sldChg chg="add">
        <pc:chgData name="Fabio Fontes" userId="50bce77f0bd00842" providerId="LiveId" clId="{3E145AAF-A39A-4737-8374-2ABCA11E15CC}" dt="2025-04-20T22:24:49.599" v="0"/>
        <pc:sldMkLst>
          <pc:docMk/>
          <pc:sldMk cId="0" sldId="274"/>
        </pc:sldMkLst>
      </pc:sldChg>
      <pc:sldChg chg="modSp add mod">
        <pc:chgData name="Fabio Fontes" userId="50bce77f0bd00842" providerId="LiveId" clId="{3E145AAF-A39A-4737-8374-2ABCA11E15CC}" dt="2025-04-20T22:26:14.112" v="12" actId="207"/>
        <pc:sldMkLst>
          <pc:docMk/>
          <pc:sldMk cId="0" sldId="275"/>
        </pc:sldMkLst>
        <pc:spChg chg="mod">
          <ac:chgData name="Fabio Fontes" userId="50bce77f0bd00842" providerId="LiveId" clId="{3E145AAF-A39A-4737-8374-2ABCA11E15CC}" dt="2025-04-20T22:26:14.112" v="12" actId="207"/>
          <ac:spMkLst>
            <pc:docMk/>
            <pc:sldMk cId="0" sldId="275"/>
            <ac:spMk id="3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6:14.112" v="12" actId="207"/>
          <ac:spMkLst>
            <pc:docMk/>
            <pc:sldMk cId="0" sldId="275"/>
            <ac:spMk id="5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6:14.112" v="12" actId="207"/>
          <ac:spMkLst>
            <pc:docMk/>
            <pc:sldMk cId="0" sldId="275"/>
            <ac:spMk id="6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6:14.112" v="12" actId="207"/>
          <ac:spMkLst>
            <pc:docMk/>
            <pc:sldMk cId="0" sldId="275"/>
            <ac:spMk id="8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6:14.112" v="12" actId="207"/>
          <ac:spMkLst>
            <pc:docMk/>
            <pc:sldMk cId="0" sldId="275"/>
            <ac:spMk id="9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6:14.112" v="12" actId="207"/>
          <ac:spMkLst>
            <pc:docMk/>
            <pc:sldMk cId="0" sldId="275"/>
            <ac:spMk id="11" creationId="{00000000-0000-0000-0000-000000000000}"/>
          </ac:spMkLst>
        </pc:spChg>
        <pc:spChg chg="mod">
          <ac:chgData name="Fabio Fontes" userId="50bce77f0bd00842" providerId="LiveId" clId="{3E145AAF-A39A-4737-8374-2ABCA11E15CC}" dt="2025-04-20T22:26:14.112" v="12" actId="207"/>
          <ac:spMkLst>
            <pc:docMk/>
            <pc:sldMk cId="0" sldId="275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63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5656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Reparação Tecidual: As Fases da Cicatrização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142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Explore o processo complexo da cicatrização e sua importância para a saúde.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952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Entender suas fases ajuda a otimizar tratamentos e melhorar a qualidade de vida.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79310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810" y="5800725"/>
            <a:ext cx="347663" cy="347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56440" y="5776198"/>
            <a:ext cx="2521744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por Luciana França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118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241" y="3430429"/>
            <a:ext cx="5908477" cy="7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Fase 1: Hemostasia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87241" y="4723686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18285" y="4723686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Definição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18285" y="5210056"/>
            <a:ext cx="5684520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Interrupção rápida do sangramento e formação do coágulo.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7714" y="4723686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58758" y="4723686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Duração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58758" y="5210056"/>
            <a:ext cx="5684520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Minutos a poucas horas após a lesão.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87241" y="6407587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18285" y="6407587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Eventos-chave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18285" y="6893957"/>
            <a:ext cx="5684520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Vasoconstrição, agregação plaquetária e ativação da cascata de coagulação.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27714" y="6407587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58758" y="6407587"/>
            <a:ext cx="3157180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Fatores Importantes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158758" y="6893957"/>
            <a:ext cx="5684520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Integridade vascular e função plaquetária.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8276"/>
            <a:ext cx="59464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Fase 2: Inflamação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740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Propósito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551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Limpar detritos e prevenir infecção via resposta imune.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Duração: 1 a 3 dias.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6740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Eventos-chave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2551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Migração de neutrófilos e macrófagos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6973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Liberação de mediadores inflamatórios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Sinais cardinais: dor, calor, rubor, edema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28474"/>
            <a:ext cx="61613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Fase 3: Proliferação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177415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411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Definição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2902268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Formação de novo tecido e desenvolvimento dos vasos sanguíneos.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177415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411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Duração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2902268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 3 até 21 dias após a lesão.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452223"/>
            <a:ext cx="7556421" cy="2648783"/>
          </a:xfrm>
          <a:prstGeom prst="roundRect">
            <a:avLst>
              <a:gd name="adj" fmla="val 3597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4686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Eventos-chave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17707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Proliferação de fibroblastos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8224" y="5619274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Síntese intensa de colágeno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28224" y="606147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Formação de tecido de granulação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28224" y="650367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Epitelização da ferida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7594"/>
            <a:ext cx="108383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Fase 4: Remodelação (Maturação)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200394" y="4087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Duração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191"/>
            <a:ext cx="42418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Meses a até 2 anos para completa maturação.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74231" y="4412456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30083" y="453640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81304" y="3089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Eventos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481304" y="3580209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Remodelação contínua e fortalecimento do colágeno.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910393" y="2890361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066246" y="301430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9481304" y="5085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Colágeno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9481304" y="5576173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Troca de colágeno tipo III por tipo I, aumentando resistência.</a:t>
            </a:r>
            <a:endParaRPr lang="en-US" sz="1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910393" y="593443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66246" y="605837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6393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Fatores Sistêmicos que Afetam a Cicatrização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66130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5621655"/>
            <a:ext cx="22117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Idade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6112073"/>
            <a:ext cx="22117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Cicatrização mais lenta em idosos.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446" y="5661303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33236" y="5621655"/>
            <a:ext cx="22118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Nutrição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933236" y="6112073"/>
            <a:ext cx="221182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Proteínas e vitaminas essenciais aceleram a cura.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5221" y="5661303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79011" y="5621655"/>
            <a:ext cx="22118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Doenças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8279011" y="6112073"/>
            <a:ext cx="221182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Diabetes e imunodeficiências retardam o processo.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0997" y="5661303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624786" y="5621655"/>
            <a:ext cx="22118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Medicações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1624786" y="6112073"/>
            <a:ext cx="221182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Corticosteroides podem atrasar a cicatrização.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135" y="582930"/>
            <a:ext cx="7664529" cy="198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Fatores Locais que Influenciam a Cicatrização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26135" y="3118961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13007" y="3118961"/>
            <a:ext cx="2891195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Irrigação Sanguínea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913007" y="3575923"/>
            <a:ext cx="6977658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Isquemia retarda regeneração tecidual.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26135" y="4363164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13007" y="4363164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Infecção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913007" y="4820126"/>
            <a:ext cx="6977658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Aumenta inflamação e prejudica a cura.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26135" y="5607368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13007" y="5607368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Corpos Estranhos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913007" y="6064329"/>
            <a:ext cx="6977658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Impedem fechamento da ferida.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26135" y="6851571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13007" y="6851571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Técnica Cirúrgica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913007" y="7308533"/>
            <a:ext cx="6977658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Manuseio cuidadoso reduz dano tecidual.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7433"/>
            <a:ext cx="9103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Complicações das Cicatrizes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931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Queloides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743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Crescimento excessivo além dos limites da ferida.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64048"/>
            <a:ext cx="36699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Cicatrizes Hipertróficas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3451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Crescimento limitado dentro da ferida.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931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Contraturas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743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Encurtamento do tecido que limita movimentos.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64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Deiscência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53451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Ruptura da ferida, complicando a cicatrização.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061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615" y="3647242"/>
            <a:ext cx="12241530" cy="651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Tratamentos para Melhorar a Cicatrização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29615" y="5549622"/>
            <a:ext cx="3058239" cy="208478"/>
          </a:xfrm>
          <a:prstGeom prst="roundRect">
            <a:avLst>
              <a:gd name="adj" fmla="val 4200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9615" y="6070759"/>
            <a:ext cx="3047762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Curativos Avançados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29615" y="6521529"/>
            <a:ext cx="3058239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Mantêm ambiente úmido e liberam fatores de crescimento.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00513" y="5236845"/>
            <a:ext cx="3058358" cy="208478"/>
          </a:xfrm>
          <a:prstGeom prst="roundRect">
            <a:avLst>
              <a:gd name="adj" fmla="val 4200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00513" y="5757982"/>
            <a:ext cx="3018592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Oxigênio Hiperbárico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4100513" y="6208752"/>
            <a:ext cx="3058358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Melhora oxigenação dos tecidos lesionados.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71529" y="4924068"/>
            <a:ext cx="3058239" cy="208478"/>
          </a:xfrm>
          <a:prstGeom prst="roundRect">
            <a:avLst>
              <a:gd name="adj" fmla="val 4200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71529" y="5445204"/>
            <a:ext cx="2976682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Estimulação Elétrica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7471529" y="5895975"/>
            <a:ext cx="3058239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Acelera migração celular e regeneração.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842427" y="4611410"/>
            <a:ext cx="3058358" cy="208478"/>
          </a:xfrm>
          <a:prstGeom prst="roundRect">
            <a:avLst>
              <a:gd name="adj" fmla="val 4200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42427" y="5132546"/>
            <a:ext cx="260615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Laserterapia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0842427" y="5583317"/>
            <a:ext cx="3058358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Estimula proliferação celular e síntese de colágeno.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98655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Radiação Ultravioleta na Fisioterapia: Uma Visão Geral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753564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A radiação ultravioleta (UV) tem ganhado destaque na fisioterapia moderna.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4788813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Hoje, exploraremos suas aplicações, benefícios e cuidados necessários.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837724" y="5841921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44" y="5849541"/>
            <a:ext cx="367665" cy="3676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0287" y="5824061"/>
            <a:ext cx="2661642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por Luciana França</a:t>
            </a:r>
            <a:endParaRPr lang="en-US" sz="2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97309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 que é Radiação Ultravioleta (UV)?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740104"/>
            <a:ext cx="3614618" cy="2521506"/>
          </a:xfrm>
          <a:prstGeom prst="roundRect">
            <a:avLst>
              <a:gd name="adj" fmla="val 398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1059" y="29870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Espectro UV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71059" y="3482578"/>
            <a:ext cx="312074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Composto por UVA, UVB e UVC, cada um com diferentes comprimentos de onda.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2740104"/>
            <a:ext cx="3614618" cy="2521506"/>
          </a:xfrm>
          <a:prstGeom prst="roundRect">
            <a:avLst>
              <a:gd name="adj" fmla="val 398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993" y="29870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Fontes Naturais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4993" y="3482578"/>
            <a:ext cx="31207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radiação solar é a principal fonte natural de UV.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500926"/>
            <a:ext cx="7468553" cy="1755458"/>
          </a:xfrm>
          <a:prstGeom prst="roundRect">
            <a:avLst>
              <a:gd name="adj" fmla="val 572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71059" y="574786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Fontes Artificiais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71059" y="6243399"/>
            <a:ext cx="697468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Lâmpadas UV são usadas para tratamentos específicos na fisioterapia.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313992"/>
            <a:ext cx="1151024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Mecanismos de Ação da Radiação UV no Corpo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5646182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15559" y="56461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Fotobiologia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6141720"/>
            <a:ext cx="338089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Síntese de vitamina D e produção de óxido nítrico.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5646182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13609" y="56461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Ação Anti-inflamatória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13609" y="6141720"/>
            <a:ext cx="338089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Modula o sistema imunológico, reduzindo inflamações.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633823" y="5646182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11658" y="56461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Cicatrização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11658" y="6141720"/>
            <a:ext cx="338089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Estimula a proliferação celular e regeneração de tecidos.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77239"/>
            <a:ext cx="1253597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Aplicações Clínicas da Radiação UV na Fisioterapia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Dermatoses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Tratamento eficaz para psoríase e outras doenças cutâneas.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Feridas Crônicas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Auxilia na cicatrização de úlceras e feridas difíceis.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979545"/>
            <a:ext cx="389977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Distúrbios Musculoesqueléticos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Alívio em condições como artrite reumatoide e dores locais.</a:t>
            </a:r>
            <a:endParaRPr lang="en-US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36290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Radiação UVB para Síntese de Vitamina D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129915"/>
            <a:ext cx="179427" cy="878562"/>
          </a:xfrm>
          <a:prstGeom prst="roundRect">
            <a:avLst>
              <a:gd name="adj" fmla="val 56034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76124" y="312991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Importância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6124" y="3625453"/>
            <a:ext cx="69301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Vitamina D essencial para saúde óssea e muscular.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196697" y="4247793"/>
            <a:ext cx="179427" cy="878562"/>
          </a:xfrm>
          <a:prstGeom prst="roundRect">
            <a:avLst>
              <a:gd name="adj" fmla="val 56034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35098" y="42477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Protocolos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735098" y="4743331"/>
            <a:ext cx="657117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Irradiação controlada para otimizar a produção natural.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555790" y="5365671"/>
            <a:ext cx="179427" cy="1261586"/>
          </a:xfrm>
          <a:prstGeom prst="roundRect">
            <a:avLst>
              <a:gd name="adj" fmla="val 56034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94190" y="53656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Monitoramento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094190" y="5861209"/>
            <a:ext cx="62120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Ajustes personalizados conforme níveis de vitamina D no paciente.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58079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Radiação UVC para Desinfecção e Cicatrização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617000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4374" y="3674983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101959" y="3617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Ação Germicida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01959" y="4112538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Elimina bactérias, vírus e outros agentes patogênicos.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10178058" y="3617000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78308" y="3674983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55893" y="3617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Feridas Infectadas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55893" y="4112538"/>
            <a:ext cx="28367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Promove um ambiente propício para cicatrização.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6324124" y="5770126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4374" y="5828109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101959" y="577012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Protocolos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01959" y="6265664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Definidos para tempo e dose adequados ao tratamento.</a:t>
            </a:r>
            <a:endParaRPr lang="en-US" sz="1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77239"/>
            <a:ext cx="945999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Técnicas de Aplicação da Radiação UV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Métodos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Irradiação focalizada, generalizada e específica.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Dosimetria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Determina dose ideal conforme tipo de pele do paciente.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Proteção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Equipamentos para segurança do paciente e do terapeuta.</a:t>
            </a:r>
            <a:endParaRPr lang="en-US" sz="1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3" y="4201597"/>
            <a:ext cx="1295483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kern="0" spc="-133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Segurança e Precauções no Uso da Radiação UV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5264587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4659" y="551152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Riscos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84659" y="6007060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Queimaduras e envelhecimento precoce por exposição excessiva.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5264587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2709" y="551152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Contraindicações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2709" y="6007060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Histórico de câncer de pele e fotossensibilidade rigorosos.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633823" y="5264587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80759" y="551152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Normas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80759" y="6007060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Seguir regulamentações para uso seguro dos equipamentos UV.</a:t>
            </a:r>
            <a:endParaRPr lang="en-US" sz="1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56348"/>
            <a:ext cx="994886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Estudos de Caso e Evidências Científicas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53195" y="407539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Estudos Positivos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70928"/>
            <a:ext cx="373165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Resultados eficazes em tratamentos de pele e dor crônica.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2720" y="4209455"/>
            <a:ext cx="35814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2800" b="1" kern="0" spc="-5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941243" y="28520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Revisão Científica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41243" y="3347561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Evidências comprovam benefícios da terapia UV na reabilitação.</a:t>
            </a:r>
            <a:endParaRPr lang="en-US" sz="1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53995" y="3264813"/>
            <a:ext cx="35814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2800" b="1" kern="0" spc="-5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41243" y="52986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Limitações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41243" y="5794177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Necessidade de mais pesquisas para novas aplicações.</a:t>
            </a:r>
            <a:endParaRPr lang="en-US" sz="1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1436" y="5972532"/>
            <a:ext cx="35814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2800" b="1" kern="0" spc="-57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72954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 Futuro da Radiação UV na Fisioterapia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2539960"/>
            <a:ext cx="1196816" cy="14362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79913" y="27792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Novas Tecnologias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879913" y="3274814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Equipamentos modernos mais eficientes e seguros.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124" y="3976211"/>
            <a:ext cx="1196816" cy="17402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79913" y="42155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Pesquisas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879913" y="4711065"/>
            <a:ext cx="59127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Exploração de novas indicações clínicas da radiação UV.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124" y="5716429"/>
            <a:ext cx="1196816" cy="17402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79913" y="595574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Integração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879913" y="6451283"/>
            <a:ext cx="59127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Overpass" pitchFamily="34" charset="0"/>
                <a:ea typeface="Overpass" pitchFamily="34" charset="-122"/>
                <a:cs typeface="Overpass" pitchFamily="34" charset="-120"/>
              </a:rPr>
              <a:t>Combinação da terapia UV com outras modalidades para melhores resultados.</a:t>
            </a:r>
            <a:endParaRPr lang="en-US" sz="1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960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Conclusão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44998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079433"/>
            <a:ext cx="30247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Processo Dinâmico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569851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cicatrização envolve múltiplas fases e eventos complexos.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44998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079433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Conhecimento Essencial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924181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Entender fases e fatores melhora decisões clínicas.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112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345668"/>
            <a:ext cx="37751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Otimização Terapêutica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8360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Intervenções podem acelerar cura e prevenir complicações.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798</Words>
  <Application>Microsoft Office PowerPoint</Application>
  <PresentationFormat>Personalizar</PresentationFormat>
  <Paragraphs>177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Syne Bold</vt:lpstr>
      <vt:lpstr>Overpass</vt:lpstr>
      <vt:lpstr>Arial</vt:lpstr>
      <vt:lpstr>Overpass Light</vt:lpstr>
      <vt:lpstr>Overpass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Fabio Fontes</cp:lastModifiedBy>
  <cp:revision>1</cp:revision>
  <dcterms:created xsi:type="dcterms:W3CDTF">2025-04-20T22:17:01Z</dcterms:created>
  <dcterms:modified xsi:type="dcterms:W3CDTF">2025-04-20T22:26:21Z</dcterms:modified>
</cp:coreProperties>
</file>